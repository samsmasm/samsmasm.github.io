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CD0A09-1130-4167-A69C-D3D3BB3A0326}">
  <a:tblStyle styleId="{8BCD0A09-1130-4167-A69C-D3D3BB3A03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C0B8B7D-F6E4-4688-BE4B-4EE2643D5D6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f9d1c89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f9d1c89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30%. Use this to introduce that margin = profit/sales * 100%.)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9064bc0c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9064bc0c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30%. Use this to introduce that margin = profit/sales * 100%.)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064bc0c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064bc0c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9064bc0c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9064bc0c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9064bc0c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9064bc0c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064bc0c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9064bc0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064bc0c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064bc0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9064bc0c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9064bc0c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9064bc0c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9064bc0c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9064bc0c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9064bc0c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9064bc0c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9064bc0c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9064bc0c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9064bc0c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9064bc0c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9064bc0c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Average stock</a:t>
            </a:r>
            <a:r>
              <a:rPr lang="en">
                <a:solidFill>
                  <a:schemeClr val="dk1"/>
                </a:solidFill>
              </a:rPr>
              <a:t> = (15,000 + 25,000) ÷ 2 = 20,000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Stock turnover</a:t>
            </a:r>
            <a:r>
              <a:rPr lang="en">
                <a:solidFill>
                  <a:schemeClr val="dk1"/>
                </a:solidFill>
              </a:rPr>
              <a:t> = 120,000 ÷ 20,000 = </a:t>
            </a:r>
            <a:r>
              <a:rPr b="1" lang="en">
                <a:solidFill>
                  <a:schemeClr val="dk1"/>
                </a:solidFill>
              </a:rPr>
              <a:t>6 times per year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Stock turnover (days)</a:t>
            </a:r>
            <a:r>
              <a:rPr lang="en">
                <a:solidFill>
                  <a:schemeClr val="dk1"/>
                </a:solidFill>
              </a:rPr>
              <a:t> = (20,000 ÷ 120,000) × 365 ≈ </a:t>
            </a:r>
            <a:r>
              <a:rPr b="1" lang="en">
                <a:solidFill>
                  <a:schemeClr val="dk1"/>
                </a:solidFill>
              </a:rPr>
              <a:t>61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Debtor days</a:t>
            </a:r>
            <a:r>
              <a:rPr lang="en">
                <a:solidFill>
                  <a:schemeClr val="dk1"/>
                </a:solidFill>
              </a:rPr>
              <a:t> = (30,000 ÷ 240,000) × 365 ≈ </a:t>
            </a:r>
            <a:r>
              <a:rPr b="1" lang="en">
                <a:solidFill>
                  <a:schemeClr val="dk1"/>
                </a:solidFill>
              </a:rPr>
              <a:t>46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Creditor days</a:t>
            </a:r>
            <a:r>
              <a:rPr lang="en">
                <a:solidFill>
                  <a:schemeClr val="dk1"/>
                </a:solidFill>
              </a:rPr>
              <a:t> = (20,000 ÷ 120,000) × 365 ≈ </a:t>
            </a:r>
            <a:r>
              <a:rPr b="1" lang="en">
                <a:solidFill>
                  <a:schemeClr val="dk1"/>
                </a:solidFill>
              </a:rPr>
              <a:t>61 days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Gearing ratio</a:t>
            </a:r>
            <a:r>
              <a:rPr lang="en">
                <a:solidFill>
                  <a:schemeClr val="dk1"/>
                </a:solidFill>
              </a:rPr>
              <a:t> = (50,000 ÷ 160,000) × 100 = </a:t>
            </a:r>
            <a:r>
              <a:rPr b="1" lang="en">
                <a:solidFill>
                  <a:schemeClr val="dk1"/>
                </a:solidFill>
              </a:rPr>
              <a:t>31.25%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0e56c69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0e56c69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0e56c699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0e56c69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0e56c699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0e56c699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0e56c699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0e56c699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0e56c69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0e56c69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0e56c699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0e56c699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0e56c699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0e56c699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0e56c699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0e56c69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0e56c69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0e56c69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0e56c699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0e56c699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0e56c699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0e56c699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0e56c699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0e56c69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0e56c6990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0e56c6990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0e56c699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0e56c699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0e56c699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0e56c699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69454e8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69454e8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c96c65c7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c96c65c7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c96c65c70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c96c65c7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c96c65c7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c96c65c7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c96c65c7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c96c65c7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c96c65c70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ac96c65c7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c96c65c70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c96c65c70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c96c65c70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c96c65c7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96c65c70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c96c65c70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c96c65c70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c96c65c70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9DAF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5200"/>
              <a:buNone/>
              <a:defRPr sz="5200">
                <a:solidFill>
                  <a:srgbClr val="20124D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2800"/>
              <a:buNone/>
              <a:defRPr sz="2800">
                <a:solidFill>
                  <a:srgbClr val="20124D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yslexia friendly">
  <p:cSld name="CUSTOM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29" name="Google Shape;29;p6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4C113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hasCustomPrompt="1"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>
            <a:r>
              <a:t>xx%</a:t>
            </a:r>
          </a:p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youtube.com/watch?v=4y6R5boDqh4" TargetMode="External"/><Relationship Id="rId4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www.youtube.com/watch?v=VxmiEjlnJuk" TargetMode="External"/><Relationship Id="rId4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youtube.com/watch?v=6JwkaLt9pf8" TargetMode="External"/><Relationship Id="rId4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spreadsheets/d/1y9xkEBGGHx-limzRH_ANVfpPeySuiV9_Jq4v6vYQxSk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ocs.google.com/document/d/1TobQ1YbYlpi_2qKsPdZyfz_zibuW4vgMfigMSRuwCO4/edit?tab=t.0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HL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16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ratios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61650" y="450150"/>
            <a:ext cx="5110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This shop keeps 600 candles on their shelf.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Every year, they sell 6000 candles.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days does the average candle sit on the shelf?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times does their inventory turnover each year?</a:t>
            </a:r>
            <a:endParaRPr b="1" i="1" sz="2000"/>
          </a:p>
        </p:txBody>
      </p:sp>
      <p:sp>
        <p:nvSpPr>
          <p:cNvPr id="71" name="Google Shape;71;p16"/>
          <p:cNvSpPr txBox="1"/>
          <p:nvPr/>
        </p:nvSpPr>
        <p:spPr>
          <a:xfrm>
            <a:off x="5888925" y="1229975"/>
            <a:ext cx="26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375" y="551950"/>
            <a:ext cx="3887199" cy="388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61650" y="450150"/>
            <a:ext cx="4809000" cy="456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600 candles on shelf. 6000 sold each year.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days does the average candle sit on the shelf?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365*600/6000=36.5 days.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n" sz="2000"/>
              <a:t>How many times does their inventory turnover each year?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00"/>
              <a:t>6000/600=10 times</a:t>
            </a:r>
            <a:endParaRPr b="1" sz="2000"/>
          </a:p>
        </p:txBody>
      </p:sp>
      <p:sp>
        <p:nvSpPr>
          <p:cNvPr id="78" name="Google Shape;78;p17"/>
          <p:cNvSpPr txBox="1"/>
          <p:nvPr/>
        </p:nvSpPr>
        <p:spPr>
          <a:xfrm>
            <a:off x="5888925" y="1229975"/>
            <a:ext cx="269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375" y="551950"/>
            <a:ext cx="3887199" cy="388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efficiency ratios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Stock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quickly is the stock turning over?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measure of the </a:t>
            </a:r>
            <a:r>
              <a:rPr lang="en" u="sng"/>
              <a:t>value</a:t>
            </a:r>
            <a:r>
              <a:rPr lang="en"/>
              <a:t> of the stock held, not the number of things in the inventory.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the </a:t>
            </a:r>
            <a:r>
              <a:rPr lang="en" u="sng"/>
              <a:t>cost of sales</a:t>
            </a:r>
            <a:r>
              <a:rPr lang="en"/>
              <a:t>, not the revenue or number of things sold.</a:t>
            </a:r>
            <a:endParaRPr/>
          </a:p>
        </p:txBody>
      </p: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Debtor/creditor days</a:t>
            </a:r>
            <a:endParaRPr b="1"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long does it take on average to pay your debts? (Longer generally better.)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long does it take on average to get paid what you are owed? (Shorter generally better.</a:t>
            </a:r>
            <a:endParaRPr/>
          </a:p>
        </p:txBody>
      </p:sp>
      <p:sp>
        <p:nvSpPr>
          <p:cNvPr id="87" name="Google Shape;87;p18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50"/>
              <a:t>Gearing ratio</a:t>
            </a:r>
            <a:endParaRPr b="1" i="1" sz="18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50"/>
              <a:t>The proportion of a business’s capital that has been raised through potentially costly/risky long-term debt.</a:t>
            </a:r>
            <a:endParaRPr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Efficiency ratios: stock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Businesses want to move through the working capital cycle at a reasonable rate.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That is, they want to convert their inventory to cash at a reasonable rate.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slow?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Physical costs: Shelf/warehouse space unnecessarily used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Financial costs: finance held up in the value of the inventory: borrowing or opportunity cost.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fast?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Unable to meet variable demand → waiting times/missed sales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/>
              <a:t>Not enough for customers to sample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‘Reasonable rate’? - stock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389600"/>
            <a:ext cx="32427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compare </a:t>
            </a:r>
            <a:r>
              <a:rPr lang="en" u="sng"/>
              <a:t>within similar industries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 </a:t>
            </a:r>
            <a:r>
              <a:rPr lang="en" u="sng"/>
              <a:t>not</a:t>
            </a:r>
            <a:r>
              <a:rPr lang="en"/>
              <a:t> compare between industries</a:t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975" y="928800"/>
            <a:ext cx="5719499" cy="316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37" y="84775"/>
            <a:ext cx="8777926" cy="32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486150"/>
            <a:ext cx="8839200" cy="139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Debtor</a:t>
            </a:r>
            <a:r>
              <a:rPr lang="en"/>
              <a:t> and creditor days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017725"/>
            <a:ext cx="39999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debtor days ratio measures the average number of days it takes the business to collect its debts.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Generally, lower is better: there’s an opportunity cost of </a:t>
            </a:r>
            <a:r>
              <a:rPr lang="en"/>
              <a:t>someone</a:t>
            </a:r>
            <a:r>
              <a:rPr lang="en"/>
              <a:t> else holding the money &amp; and can hurt cash flow.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But allowing others to buy on credit may increase sales; being too ‘impatient’ may reduce sales.</a:t>
            </a:r>
            <a:endParaRPr/>
          </a:p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636050" y="1017725"/>
            <a:ext cx="3999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creditor days ratio is an indicator of the average number of days it takes a business to pay its debts.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Generally, higher is better.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But increasing it too much can lead to poor relations with your suppliers.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3142750"/>
            <a:ext cx="76200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802625"/>
            <a:ext cx="78676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Gearing ratio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gearing ratio measures how much of the business’s capital employed is financed by long-term debt, such as non-current liabilities.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higher the gearing ratio, the more of the business’s operations are funded by long-term debt.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risky and may not be positive for the business because, if interest rates increase, then loan payments could rise and undermine profits and dividends to shareholders.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86078"/>
            <a:ext cx="9144001" cy="197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28"/>
          <p:cNvGraphicFramePr/>
          <p:nvPr/>
        </p:nvGraphicFramePr>
        <p:xfrm>
          <a:off x="503300" y="3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{8BCD0A09-1130-4167-A69C-D3D3BB3A0326}</a:tableStyleId>
              </a:tblPr>
              <a:tblGrid>
                <a:gridCol w="4563825"/>
                <a:gridCol w="15071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Financial Information for the year ended 31 December 2024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($)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Sales revenue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240,000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Cost of goods sold (COGS)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120,000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Opening stock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15,000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Closing stock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25,000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Debtors (accounts receivable)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30,000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Creditors (accounts payable)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20,000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Long-term loans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50,000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Share capital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80,000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Retained profit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30,000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Total capital employed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</a:rPr>
                        <a:t>160,000</a:t>
                      </a:r>
                      <a:endParaRPr sz="17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6" name="Google Shape;156;p28"/>
          <p:cNvSpPr txBox="1"/>
          <p:nvPr/>
        </p:nvSpPr>
        <p:spPr>
          <a:xfrm>
            <a:off x="6574250" y="1290900"/>
            <a:ext cx="228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Calculate: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Stock </a:t>
            </a:r>
            <a:r>
              <a:rPr lang="en" sz="1800">
                <a:solidFill>
                  <a:schemeClr val="dk2"/>
                </a:solidFill>
              </a:rPr>
              <a:t>turn over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Times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Debtor 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Creditor days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Gearing ratio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 present value</a:t>
            </a:r>
            <a:endParaRPr/>
          </a:p>
        </p:txBody>
      </p:sp>
      <p:sp>
        <p:nvSpPr>
          <p:cNvPr id="162" name="Google Shape;162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HL Only</a:t>
            </a:r>
            <a:endParaRPr/>
          </a:p>
        </p:txBody>
      </p:sp>
      <p:sp>
        <p:nvSpPr>
          <p:cNvPr id="163" name="Google Shape;163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have 1,000,000 VND today or 5,000,000 VND in 2027 year?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have a Honda Airblade as soon as you can get a license, a Honda Accord when you're 25 or a BMW when you're 35?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Would you rather get unlimited cold brew with vanilla foam for one month now, or for one year starting in 2030?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 an experiment, young children were offered either one marshmallow now, or two marshmallows later, which might determine if these kids will be successful later in life." id="174" name="Google Shape;174;p31" title="The Marshmallow Tes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503" y="75100"/>
            <a:ext cx="8877000" cy="49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uturama season 1 episode 1 - Space Pilot 3000&#10;Subscribe for more clips of the television series Futurama! Had to flip the video to be safe from copyright issues (for now), sorry. Enjoy!" id="180" name="Google Shape;180;p32" title="Futurama Fry gets frozen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7306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ry's reaction to becoming a billionaire..." id="186" name="Google Shape;186;p33" title="4.3 Billion Dollars (Futurama, Season 1, Episode 6).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7306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490250" y="450150"/>
            <a:ext cx="7651500" cy="453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Money now is worth more than in the future because…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we have a psychological bias toward the present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we can invest a small amount now create a bigger amount in the future</a:t>
            </a:r>
            <a:endParaRPr sz="2820"/>
          </a:p>
          <a:p>
            <a:pPr indent="-407670" lvl="0" marL="457200" rtl="0" algn="l">
              <a:spcBef>
                <a:spcPts val="0"/>
              </a:spcBef>
              <a:spcAft>
                <a:spcPts val="0"/>
              </a:spcAft>
              <a:buSzPts val="2820"/>
              <a:buChar char="-"/>
            </a:pPr>
            <a:r>
              <a:rPr lang="en" sz="2820"/>
              <a:t>generally, there is inflation, i.e. prices go up; money buys less in the future = money is worth less in the future = money devalues.</a:t>
            </a:r>
            <a:endParaRPr sz="282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Maybe Fry’s billions aren’t as good as they sound.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working out…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342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you have 1,000,000 today and you can get 4% a year.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much will you have in: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1 year?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2  years?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10 years?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/>
              <a:t>50 years? (you retire!)</a:t>
            </a:r>
            <a:endParaRPr/>
          </a:p>
        </p:txBody>
      </p:sp>
      <p:sp>
        <p:nvSpPr>
          <p:cNvPr id="198" name="Google Shape;198;p35"/>
          <p:cNvSpPr txBox="1"/>
          <p:nvPr>
            <p:ph idx="2" type="body"/>
          </p:nvPr>
        </p:nvSpPr>
        <p:spPr>
          <a:xfrm>
            <a:off x="3870400" y="1246825"/>
            <a:ext cx="476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 1,000,000 x 1.04 = 1,040,000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2: </a:t>
            </a:r>
            <a:r>
              <a:rPr lang="en">
                <a:solidFill>
                  <a:schemeClr val="dk1"/>
                </a:solidFill>
              </a:rPr>
              <a:t>1,000,000 x 1.04 x 1.04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	= 1,000,000 x 1.04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 = 1,081,600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50: 1,000,000 x 1.04</a:t>
            </a:r>
            <a:r>
              <a:rPr baseline="30000" lang="en">
                <a:solidFill>
                  <a:schemeClr val="dk1"/>
                </a:solidFill>
              </a:rPr>
              <a:t>50</a:t>
            </a:r>
            <a:r>
              <a:rPr lang="en">
                <a:solidFill>
                  <a:schemeClr val="dk1"/>
                </a:solidFill>
              </a:rPr>
              <a:t> = 7,106,683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n: 1,000,000 x 1.04</a:t>
            </a:r>
            <a:r>
              <a:rPr baseline="30000" lang="en">
                <a:solidFill>
                  <a:schemeClr val="dk1"/>
                </a:solidFill>
              </a:rPr>
              <a:t>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scary thought…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485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“It’s only 100,000 VND.”</a:t>
            </a:r>
            <a:br>
              <a:rPr lang="en"/>
            </a:br>
            <a:br>
              <a:rPr lang="en"/>
            </a:br>
            <a:r>
              <a:rPr i="1" lang="en"/>
              <a:t>But you could invest that with a return averaging 8%!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100,000 x 1.08</a:t>
            </a:r>
            <a:r>
              <a:rPr baseline="30000" lang="en"/>
              <a:t>50</a:t>
            </a:r>
            <a:r>
              <a:rPr lang="en"/>
              <a:t>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559"/>
              <a:t>4,690,161 VND when you retire!</a:t>
            </a:r>
            <a:endParaRPr sz="4559"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5975" y="123550"/>
            <a:ext cx="3076325" cy="489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</a:t>
            </a:r>
            <a:r>
              <a:rPr lang="en"/>
              <a:t>backwards: What’s 1,000,000 VND next year worth </a:t>
            </a:r>
            <a:r>
              <a:rPr lang="en" u="sng"/>
              <a:t>now</a:t>
            </a:r>
            <a:r>
              <a:rPr lang="en"/>
              <a:t>, assuming 4% return?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is, how much would you need to have now to get a million next year?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7"/>
          <p:cNvSpPr txBox="1"/>
          <p:nvPr/>
        </p:nvSpPr>
        <p:spPr>
          <a:xfrm>
            <a:off x="311700" y="22513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12" name="Google Shape;212;p37"/>
          <p:cNvSpPr txBox="1"/>
          <p:nvPr/>
        </p:nvSpPr>
        <p:spPr>
          <a:xfrm>
            <a:off x="5582000" y="2898950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13" name="Google Shape;213;p37"/>
          <p:cNvCxnSpPr/>
          <p:nvPr/>
        </p:nvCxnSpPr>
        <p:spPr>
          <a:xfrm>
            <a:off x="1557400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7"/>
          <p:cNvCxnSpPr/>
          <p:nvPr/>
        </p:nvCxnSpPr>
        <p:spPr>
          <a:xfrm rot="10800000">
            <a:off x="1434100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37"/>
          <p:cNvSpPr txBox="1"/>
          <p:nvPr/>
        </p:nvSpPr>
        <p:spPr>
          <a:xfrm>
            <a:off x="2143350" y="2189620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x1.04</a:t>
            </a:r>
            <a:endParaRPr sz="3000">
              <a:solidFill>
                <a:schemeClr val="dk2"/>
              </a:solidFill>
            </a:endParaRPr>
          </a:p>
        </p:txBody>
      </p:sp>
      <p:sp>
        <p:nvSpPr>
          <p:cNvPr id="216" name="Google Shape;216;p37"/>
          <p:cNvSpPr txBox="1"/>
          <p:nvPr/>
        </p:nvSpPr>
        <p:spPr>
          <a:xfrm>
            <a:off x="2295750" y="3668132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</a:t>
            </a:r>
            <a:r>
              <a:rPr lang="en" sz="3000">
                <a:solidFill>
                  <a:schemeClr val="dk2"/>
                </a:solidFill>
              </a:rPr>
              <a:t>1.04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backwards: What’s 1,000,000 VND in 10 years worth </a:t>
            </a:r>
            <a:r>
              <a:rPr lang="en" u="sng"/>
              <a:t>now</a:t>
            </a:r>
            <a:r>
              <a:rPr lang="en"/>
              <a:t>, assuming 4% return?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8"/>
          <p:cNvSpPr txBox="1"/>
          <p:nvPr/>
        </p:nvSpPr>
        <p:spPr>
          <a:xfrm>
            <a:off x="311700" y="22513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23" name="Google Shape;223;p38"/>
          <p:cNvSpPr txBox="1"/>
          <p:nvPr/>
        </p:nvSpPr>
        <p:spPr>
          <a:xfrm>
            <a:off x="5582000" y="2898950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24" name="Google Shape;224;p38"/>
          <p:cNvCxnSpPr/>
          <p:nvPr/>
        </p:nvCxnSpPr>
        <p:spPr>
          <a:xfrm>
            <a:off x="1557400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38"/>
          <p:cNvCxnSpPr/>
          <p:nvPr/>
        </p:nvCxnSpPr>
        <p:spPr>
          <a:xfrm rot="10800000">
            <a:off x="1434100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38"/>
          <p:cNvSpPr txBox="1"/>
          <p:nvPr/>
        </p:nvSpPr>
        <p:spPr>
          <a:xfrm>
            <a:off x="2143350" y="2189620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x1.04</a:t>
            </a:r>
            <a:r>
              <a:rPr baseline="30000" lang="en" sz="3000">
                <a:solidFill>
                  <a:schemeClr val="dk2"/>
                </a:solidFill>
              </a:rPr>
              <a:t>10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2295750" y="3668132"/>
            <a:ext cx="720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÷1.04</a:t>
            </a:r>
            <a:r>
              <a:rPr baseline="30000" lang="en" sz="3000">
                <a:solidFill>
                  <a:schemeClr val="dk2"/>
                </a:solidFill>
              </a:rPr>
              <a:t>10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16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forwards: If there is inflation of 5% for the next year, how much, in today’s VND, will today’s 1,000,000 VND buy?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9"/>
          <p:cNvSpPr txBox="1"/>
          <p:nvPr/>
        </p:nvSpPr>
        <p:spPr>
          <a:xfrm>
            <a:off x="7158136" y="23130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11" y="2797788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35" name="Google Shape;235;p39"/>
          <p:cNvCxnSpPr/>
          <p:nvPr/>
        </p:nvCxnSpPr>
        <p:spPr>
          <a:xfrm>
            <a:off x="2960611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9"/>
          <p:cNvCxnSpPr/>
          <p:nvPr/>
        </p:nvCxnSpPr>
        <p:spPr>
          <a:xfrm rot="10800000">
            <a:off x="2837311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9"/>
          <p:cNvSpPr txBox="1"/>
          <p:nvPr/>
        </p:nvSpPr>
        <p:spPr>
          <a:xfrm>
            <a:off x="3546553" y="2189624"/>
            <a:ext cx="54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x0.95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3698953" y="3668125"/>
            <a:ext cx="496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÷0.09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167475"/>
            <a:ext cx="8520600" cy="14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forwards: If there is inflation of 5% for the next 6 years, how much, in today’s VND, will today’s 1,000,000 VND buy in 2031?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/>
        </p:nvSpPr>
        <p:spPr>
          <a:xfrm>
            <a:off x="7158136" y="2313000"/>
            <a:ext cx="987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dk2"/>
                </a:solidFill>
              </a:rPr>
              <a:t>?</a:t>
            </a:r>
            <a:endParaRPr sz="10000">
              <a:solidFill>
                <a:schemeClr val="dk2"/>
              </a:solidFill>
            </a:endParaRPr>
          </a:p>
        </p:txBody>
      </p:sp>
      <p:sp>
        <p:nvSpPr>
          <p:cNvPr id="245" name="Google Shape;245;p40"/>
          <p:cNvSpPr txBox="1"/>
          <p:nvPr/>
        </p:nvSpPr>
        <p:spPr>
          <a:xfrm>
            <a:off x="11" y="2797788"/>
            <a:ext cx="35928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</a:rPr>
              <a:t>1,000,000 VND</a:t>
            </a:r>
            <a:endParaRPr sz="3700">
              <a:solidFill>
                <a:schemeClr val="dk2"/>
              </a:solidFill>
            </a:endParaRPr>
          </a:p>
        </p:txBody>
      </p:sp>
      <p:cxnSp>
        <p:nvCxnSpPr>
          <p:cNvPr id="246" name="Google Shape;246;p40"/>
          <p:cNvCxnSpPr/>
          <p:nvPr/>
        </p:nvCxnSpPr>
        <p:spPr>
          <a:xfrm>
            <a:off x="2960611" y="2744750"/>
            <a:ext cx="3808800" cy="46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p40"/>
          <p:cNvCxnSpPr/>
          <p:nvPr/>
        </p:nvCxnSpPr>
        <p:spPr>
          <a:xfrm rot="10800000">
            <a:off x="2837311" y="3561875"/>
            <a:ext cx="3609000" cy="123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40"/>
          <p:cNvSpPr txBox="1"/>
          <p:nvPr/>
        </p:nvSpPr>
        <p:spPr>
          <a:xfrm>
            <a:off x="3546553" y="2189624"/>
            <a:ext cx="547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x0.95</a:t>
            </a:r>
            <a:r>
              <a:rPr baseline="30000" lang="en" sz="3000">
                <a:solidFill>
                  <a:schemeClr val="dk2"/>
                </a:solidFill>
              </a:rPr>
              <a:t>6</a:t>
            </a:r>
            <a:endParaRPr baseline="30000" sz="3000">
              <a:solidFill>
                <a:schemeClr val="dk2"/>
              </a:solidFill>
            </a:endParaRPr>
          </a:p>
        </p:txBody>
      </p:sp>
      <p:sp>
        <p:nvSpPr>
          <p:cNvPr id="249" name="Google Shape;249;p40"/>
          <p:cNvSpPr txBox="1"/>
          <p:nvPr/>
        </p:nvSpPr>
        <p:spPr>
          <a:xfrm>
            <a:off x="3698953" y="3668125"/>
            <a:ext cx="496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÷0.09</a:t>
            </a:r>
            <a:r>
              <a:rPr baseline="30000" lang="en" sz="3000">
                <a:solidFill>
                  <a:schemeClr val="dk2"/>
                </a:solidFill>
              </a:rPr>
              <a:t>6</a:t>
            </a:r>
            <a:endParaRPr baseline="30000" sz="3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0" y="4219125"/>
            <a:ext cx="3045000" cy="6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investment: $200 000. </a:t>
            </a:r>
            <a:endParaRPr/>
          </a:p>
        </p:txBody>
      </p:sp>
      <p:graphicFrame>
        <p:nvGraphicFramePr>
          <p:cNvPr id="255" name="Google Shape;255;p41"/>
          <p:cNvGraphicFramePr/>
          <p:nvPr/>
        </p:nvGraphicFramePr>
        <p:xfrm>
          <a:off x="-75" y="7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{FC0B8B7D-F6E4-4688-BE4B-4EE2643D5D66}</a:tableStyleId>
              </a:tblPr>
              <a:tblGrid>
                <a:gridCol w="1512350"/>
                <a:gridCol w="1512350"/>
                <a:gridCol w="1512350"/>
                <a:gridCol w="1512350"/>
                <a:gridCol w="1512350"/>
                <a:gridCol w="15123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Year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Cash inflow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Cash outflow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Net cash flow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10% discount rate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Present value ($)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0.9091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54 546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140 000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80 000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0.8264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66 112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3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240 000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120 000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0.7513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90 156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360 000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200 000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160 000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0.6830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109 2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152400" marB="152400" marR="152400" marL="1524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56" name="Google Shape;2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000" y="4618300"/>
            <a:ext cx="6515815" cy="41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41"/>
          <p:cNvCxnSpPr/>
          <p:nvPr/>
        </p:nvCxnSpPr>
        <p:spPr>
          <a:xfrm flipH="1">
            <a:off x="7190900" y="3573675"/>
            <a:ext cx="1041600" cy="926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41"/>
          <p:cNvCxnSpPr/>
          <p:nvPr/>
        </p:nvCxnSpPr>
        <p:spPr>
          <a:xfrm flipH="1" rot="10800000">
            <a:off x="5526900" y="3511175"/>
            <a:ext cx="1092900" cy="4821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41"/>
          <p:cNvSpPr txBox="1"/>
          <p:nvPr/>
        </p:nvSpPr>
        <p:spPr>
          <a:xfrm>
            <a:off x="3197500" y="4007725"/>
            <a:ext cx="31827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/</a:t>
            </a:r>
            <a:r>
              <a:rPr lang="en" sz="1800">
                <a:solidFill>
                  <a:schemeClr val="dk2"/>
                </a:solidFill>
              </a:rPr>
              <a:t>((1+% discount rate)^year)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idx="1" type="body"/>
          </p:nvPr>
        </p:nvSpPr>
        <p:spPr>
          <a:xfrm>
            <a:off x="0" y="1012454"/>
            <a:ext cx="3868500" cy="39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</a:t>
            </a:r>
            <a:r>
              <a:rPr b="1" lang="en" sz="1600">
                <a:solidFill>
                  <a:schemeClr val="lt1"/>
                </a:solidFill>
              </a:rPr>
              <a:t>ost of capital</a:t>
            </a:r>
            <a:r>
              <a:rPr lang="en" sz="1600">
                <a:solidFill>
                  <a:schemeClr val="lt1"/>
                </a:solidFill>
              </a:rPr>
              <a:t>: Minimum return needed to cover borrowing and equity costs.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Project risk</a:t>
            </a:r>
            <a:r>
              <a:rPr lang="en" sz="1600">
                <a:solidFill>
                  <a:schemeClr val="lt1"/>
                </a:solidFill>
              </a:rPr>
              <a:t>: Riskier projects require higher expected returns.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Opportunity cost</a:t>
            </a:r>
            <a:r>
              <a:rPr lang="en" sz="1600">
                <a:solidFill>
                  <a:schemeClr val="lt1"/>
                </a:solidFill>
              </a:rPr>
              <a:t>: Returns available from the next-best investment.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Central bank interest rates</a:t>
            </a:r>
            <a:r>
              <a:rPr lang="en" sz="1600">
                <a:solidFill>
                  <a:schemeClr val="lt1"/>
                </a:solidFill>
              </a:rPr>
              <a:t>: Higher policy rates raise financing costs.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Inflation</a:t>
            </a:r>
            <a:r>
              <a:rPr lang="en" sz="1600">
                <a:solidFill>
                  <a:schemeClr val="lt1"/>
                </a:solidFill>
              </a:rPr>
              <a:t>: Higher inflation reduces future value, pushing rates up.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Economic uncertainty</a:t>
            </a:r>
            <a:r>
              <a:rPr lang="en" sz="1600">
                <a:solidFill>
                  <a:schemeClr val="lt1"/>
                </a:solidFill>
              </a:rPr>
              <a:t>: Instability increases risk premiums.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Industry conditions</a:t>
            </a:r>
            <a:r>
              <a:rPr lang="en" sz="1600">
                <a:solidFill>
                  <a:schemeClr val="lt1"/>
                </a:solidFill>
              </a:rPr>
              <a:t>: Fast-changing or volatile sectors use higher rates.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0" y="0"/>
            <a:ext cx="3119700" cy="118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Choosing your </a:t>
            </a:r>
            <a:r>
              <a:rPr lang="en">
                <a:solidFill>
                  <a:schemeClr val="lt1"/>
                </a:solidFill>
              </a:rPr>
              <a:t>discount</a:t>
            </a:r>
            <a:r>
              <a:rPr lang="en">
                <a:solidFill>
                  <a:schemeClr val="lt1"/>
                </a:solidFill>
              </a:rPr>
              <a:t> rate matters and it’s hard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6" name="Google Shape;266;p42"/>
          <p:cNvPicPr preferRelativeResize="0"/>
          <p:nvPr/>
        </p:nvPicPr>
        <p:blipFill rotWithShape="1">
          <a:blip r:embed="rId3">
            <a:alphaModFix/>
          </a:blip>
          <a:srcRect b="0" l="5301" r="6046" t="0"/>
          <a:stretch/>
        </p:blipFill>
        <p:spPr>
          <a:xfrm>
            <a:off x="3646900" y="542201"/>
            <a:ext cx="5497099" cy="406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0" y="283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and evaluation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216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IB1 BM finance NPV exercises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Practice!</a:t>
            </a:r>
            <a:r>
              <a:rPr lang="en"/>
              <a:t>	</a:t>
            </a:r>
            <a:endParaRPr/>
          </a:p>
        </p:txBody>
      </p:sp>
      <p:sp>
        <p:nvSpPr>
          <p:cNvPr id="273" name="Google Shape;273;p43"/>
          <p:cNvSpPr txBox="1"/>
          <p:nvPr>
            <p:ph idx="2" type="body"/>
          </p:nvPr>
        </p:nvSpPr>
        <p:spPr>
          <a:xfrm>
            <a:off x="2403225" y="791300"/>
            <a:ext cx="6628500" cy="4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</a:t>
            </a:r>
            <a:r>
              <a:rPr i="1" lang="en"/>
              <a:t>NPV playing</a:t>
            </a:r>
            <a:r>
              <a:rPr lang="en"/>
              <a:t>, play with the various rates to consider:</a:t>
            </a:r>
            <a:endParaRPr/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What happens to your project when you change the discount rate?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How does shifting cash inflows earlier or later affect the outcome? (You might copy the spreadsheet and write in different values rather than rely on the formula.)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How do rising or falling costs change the overall decision?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Which variable in the model seems to matter the most, and why?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AutoNum type="arabicPeriod"/>
            </a:pPr>
            <a:r>
              <a:rPr lang="en"/>
              <a:t>Can you make the NPV positive and the ARR negative or vice versa? What does this mean?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Further consideration:</a:t>
            </a:r>
            <a:endParaRPr/>
          </a:p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is the discount rate after 20 years at certain percentages? 50 years? 100 years? What are the implications of this?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IB1 BM finance AI Investment: a bold or crazy move</a:t>
            </a: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39325"/>
            <a:ext cx="85206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Budgets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and profit centres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Profit Centres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 area of business generating both </a:t>
            </a:r>
            <a:r>
              <a:rPr b="1" lang="en" sz="1600">
                <a:solidFill>
                  <a:schemeClr val="dk1"/>
                </a:solidFill>
              </a:rPr>
              <a:t>revenue and costs</a:t>
            </a:r>
            <a:r>
              <a:rPr lang="en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Aims to generate profit for company: revenues &gt; costs.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So, have own St of P&amp;L.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Example</a:t>
            </a:r>
            <a:r>
              <a:rPr lang="en" sz="1600">
                <a:solidFill>
                  <a:schemeClr val="dk1"/>
                </a:solidFill>
              </a:rPr>
              <a:t>: Individual supermarket branches (Carrefour), school canteen, school shop.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90" name="Google Shape;290;p46"/>
          <p:cNvSpPr txBox="1"/>
          <p:nvPr>
            <p:ph idx="2" type="body"/>
          </p:nvPr>
        </p:nvSpPr>
        <p:spPr>
          <a:xfrm>
            <a:off x="46493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Cost Centres</a:t>
            </a:r>
            <a:r>
              <a:rPr lang="en" sz="1600">
                <a:solidFill>
                  <a:schemeClr val="dk1"/>
                </a:solidFill>
              </a:rPr>
              <a:t>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 area of business generat</a:t>
            </a:r>
            <a:r>
              <a:rPr lang="en" sz="1600">
                <a:solidFill>
                  <a:schemeClr val="dk1"/>
                </a:solidFill>
              </a:rPr>
              <a:t>ing</a:t>
            </a:r>
            <a:r>
              <a:rPr lang="en" sz="1600">
                <a:solidFill>
                  <a:schemeClr val="dk1"/>
                </a:solidFill>
              </a:rPr>
              <a:t> costs but no revenue.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Must predict and manage operational costs.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Relies on revenue allocation from other parts of the business.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Example</a:t>
            </a:r>
            <a:r>
              <a:rPr lang="en" sz="1600">
                <a:solidFill>
                  <a:schemeClr val="dk1"/>
                </a:solidFill>
              </a:rPr>
              <a:t>: School academic departments (Science, History), Head Office, HR, Market Research teams.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Organising centres - more when we get to HR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Function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Specific functional departments treated as cost centres.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Marketing, Finance, Human Resources, IT, Legal.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97" name="Google Shape;297;p47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Product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Organized by distinct goods/service categories.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Each product line responsible for its own costs/revenues.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Adidas (Sportswear division vs. Equipment division).</a:t>
            </a:r>
            <a:endParaRPr sz="1700"/>
          </a:p>
        </p:txBody>
      </p:sp>
      <p:sp>
        <p:nvSpPr>
          <p:cNvPr id="298" name="Google Shape;298;p47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By Geography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Organized by location or branch.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Standard for multinational corporations (MNCs).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i="1" lang="en" sz="1700">
                <a:solidFill>
                  <a:schemeClr val="dk1"/>
                </a:solidFill>
              </a:rPr>
              <a:t>Example</a:t>
            </a:r>
            <a:r>
              <a:rPr lang="en" sz="1700">
                <a:solidFill>
                  <a:schemeClr val="dk1"/>
                </a:solidFill>
              </a:rPr>
              <a:t>: Samsung or Apple regional divisions (North America vs. Asia).</a:t>
            </a:r>
            <a:endParaRPr sz="17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bother with budgeting for centres?</a:t>
            </a:r>
            <a:endParaRPr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3117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Financial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Isolates specific unit performance (profit vs. inefficiency).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Benchmarks efficiency across departments - can compare.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Improves accuracy of whole-business budgeting.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05" name="Google Shape;305;p48"/>
          <p:cNvSpPr txBox="1"/>
          <p:nvPr>
            <p:ph idx="2" type="body"/>
          </p:nvPr>
        </p:nvSpPr>
        <p:spPr>
          <a:xfrm>
            <a:off x="323235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Motivational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Delegates financial authority, boosting autonomy.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Links incentives/rewards to budget targets.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306" name="Google Shape;306;p48"/>
          <p:cNvSpPr txBox="1"/>
          <p:nvPr>
            <p:ph idx="3" type="body"/>
          </p:nvPr>
        </p:nvSpPr>
        <p:spPr>
          <a:xfrm>
            <a:off x="6153000" y="1152475"/>
            <a:ext cx="267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Organisational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Identifies units requiring investment or intervention.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decentralization with centralized monitoring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‘Budgets’?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1152475"/>
            <a:ext cx="409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Definition</a:t>
            </a:r>
            <a:r>
              <a:rPr lang="en" sz="2000">
                <a:solidFill>
                  <a:schemeClr val="dk1"/>
                </a:solidFill>
              </a:rPr>
              <a:t>: Financial plan for a defined future period forecasting revenues and costs.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Purpose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Planning financial resources to achieve objectives.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Control, coordination, and monitoring of expenditure.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313" name="Google Shape;313;p49"/>
          <p:cNvSpPr txBox="1"/>
          <p:nvPr>
            <p:ph idx="2" type="body"/>
          </p:nvPr>
        </p:nvSpPr>
        <p:spPr>
          <a:xfrm>
            <a:off x="4738100" y="596550"/>
            <a:ext cx="4094100" cy="39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Scope</a:t>
            </a:r>
            <a:r>
              <a:rPr lang="en" sz="2000">
                <a:solidFill>
                  <a:schemeClr val="dk1"/>
                </a:solidFill>
              </a:rPr>
              <a:t>: Can be set for departments, factories, projects, or individuals.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Key Characteristics</a:t>
            </a:r>
            <a:r>
              <a:rPr lang="en" sz="2000">
                <a:solidFill>
                  <a:schemeClr val="dk1"/>
                </a:solidFill>
              </a:rPr>
              <a:t>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Short-term</a:t>
            </a:r>
            <a:r>
              <a:rPr lang="en" sz="2000">
                <a:solidFill>
                  <a:schemeClr val="dk1"/>
                </a:solidFill>
              </a:rPr>
              <a:t>: Typically set for 12 months (financial year) or project duration.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" sz="2000">
                <a:solidFill>
                  <a:schemeClr val="dk1"/>
                </a:solidFill>
              </a:rPr>
              <a:t>Coordinated</a:t>
            </a:r>
            <a:r>
              <a:rPr lang="en" sz="2000">
                <a:solidFill>
                  <a:schemeClr val="dk1"/>
                </a:solidFill>
              </a:rPr>
              <a:t>: Departmental budgets set </a:t>
            </a:r>
            <a:r>
              <a:rPr i="1" lang="en" sz="2000">
                <a:solidFill>
                  <a:schemeClr val="dk1"/>
                </a:solidFill>
              </a:rPr>
              <a:t>after</a:t>
            </a:r>
            <a:r>
              <a:rPr lang="en" sz="2000">
                <a:solidFill>
                  <a:schemeClr val="dk1"/>
                </a:solidFill>
              </a:rPr>
              <a:t> corporate objectives; feed into centralized master budget.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did you decide what to dress yourself from your knees down today?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124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a budget</a:t>
            </a:r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Two key methods of </a:t>
            </a:r>
            <a:r>
              <a:rPr b="1" lang="en" sz="1600">
                <a:solidFill>
                  <a:schemeClr val="dk1"/>
                </a:solidFill>
              </a:rPr>
              <a:t>determining</a:t>
            </a:r>
            <a:r>
              <a:rPr b="1" lang="en" sz="1600">
                <a:solidFill>
                  <a:schemeClr val="dk1"/>
                </a:solidFill>
              </a:rPr>
              <a:t> a budget level: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Historical</a:t>
            </a:r>
            <a:r>
              <a:rPr lang="en" sz="1600">
                <a:solidFill>
                  <a:schemeClr val="dk1"/>
                </a:solidFill>
              </a:rPr>
              <a:t>: Based on previous year’s allocation with incremental adjustments.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Zero-based</a:t>
            </a:r>
            <a:r>
              <a:rPr lang="en" sz="1600">
                <a:solidFill>
                  <a:schemeClr val="dk1"/>
                </a:solidFill>
              </a:rPr>
              <a:t>: Departments start from zero; must bid for and justify </a:t>
            </a:r>
            <a:r>
              <a:rPr i="1" lang="en" sz="1600">
                <a:solidFill>
                  <a:schemeClr val="dk1"/>
                </a:solidFill>
              </a:rPr>
              <a:t>all</a:t>
            </a:r>
            <a:r>
              <a:rPr lang="en" sz="1600">
                <a:solidFill>
                  <a:schemeClr val="dk1"/>
                </a:solidFill>
              </a:rPr>
              <a:t> expenditure.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25" name="Google Shape;325;p51"/>
          <p:cNvSpPr txBox="1"/>
          <p:nvPr>
            <p:ph idx="2" type="body"/>
          </p:nvPr>
        </p:nvSpPr>
        <p:spPr>
          <a:xfrm>
            <a:off x="4636050" y="212100"/>
            <a:ext cx="3999900" cy="4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These can affect changes, or values in budget: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Marketing:</a:t>
            </a:r>
            <a:r>
              <a:rPr lang="en" sz="1600">
                <a:solidFill>
                  <a:schemeClr val="dk1"/>
                </a:solidFill>
              </a:rPr>
              <a:t> Decisions on product, price, or promotion directly impact revenue/cost forecasts.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HR:</a:t>
            </a:r>
            <a:r>
              <a:rPr lang="en" sz="1600">
                <a:solidFill>
                  <a:schemeClr val="dk1"/>
                </a:solidFill>
              </a:rPr>
              <a:t>: Labour turnover rates affect recruitment, training, and salary budgets.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Operations</a:t>
            </a:r>
            <a:r>
              <a:rPr lang="en" sz="1600">
                <a:solidFill>
                  <a:schemeClr val="dk1"/>
                </a:solidFill>
              </a:rPr>
              <a:t>: Changes in efficiency, waste levels, or production methods.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Managerial Attitude</a:t>
            </a:r>
            <a:r>
              <a:rPr lang="en" sz="1600">
                <a:solidFill>
                  <a:schemeClr val="dk1"/>
                </a:solidFill>
              </a:rPr>
              <a:t>: Requires forward-looking, flexible, and realistic mindset.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Analysis of external factors, e.g. with STEEPLE.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52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030" y="0"/>
            <a:ext cx="65359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763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Practice!</a:t>
            </a:r>
            <a:endParaRPr/>
          </a:p>
        </p:txBody>
      </p:sp>
      <p:sp>
        <p:nvSpPr>
          <p:cNvPr id="339" name="Google Shape;339;p5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3.9.3 on Kognity: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Practice and case study.</a:t>
            </a:r>
            <a:endParaRPr/>
          </a:p>
        </p:txBody>
      </p:sp>
      <p:sp>
        <p:nvSpPr>
          <p:cNvPr id="340" name="Google Shape;340;p53"/>
          <p:cNvSpPr txBox="1"/>
          <p:nvPr>
            <p:ph idx="2" type="body"/>
          </p:nvPr>
        </p:nvSpPr>
        <p:spPr>
          <a:xfrm>
            <a:off x="4636050" y="12468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AE682"/>
      </a:dk1>
      <a:lt1>
        <a:srgbClr val="240061"/>
      </a:lt1>
      <a:dk2>
        <a:srgbClr val="FAE682"/>
      </a:dk2>
      <a:lt2>
        <a:srgbClr val="0F0036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A7FF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